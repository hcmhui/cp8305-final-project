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98CECF-57BE-4C9B-815A-7925FB4FA5A0}">
  <a:tblStyle styleId="{E098CECF-57BE-4C9B-815A-7925FB4FA5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avenPr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MavenPr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d0d3516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d0d3516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3c7d84f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3c7d84f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3c7d84f4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3c7d84f4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3c7d84f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3c7d84f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3c7d84f4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3c7d84f4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3c7d84f4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3c7d84f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3c7d84f4b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3c7d84f4b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d345d24c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d345d24c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d345d24c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d345d24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d345d24c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d345d24c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3c7d84f4b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d3c7d84f4b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d345d24c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d345d24c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d3c7d84f4b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d3c7d84f4b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4747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Machine Learning to predict Ontario Housing Price Ranges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</a:t>
            </a:r>
            <a:r>
              <a:rPr lang="en"/>
              <a:t>Alec De Sousa and Hermes Hui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Ontario Housing market is highly diverse (urban condos to rural estates)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models (pricing regression) struggle with complexity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 on structural property characteristics rather than 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Dataset contains ~29,000 listings, 29 attributes (Remax, Feb 2025)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Multi-stage methodology: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K-means clustering (market segmentation)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Association rule mining (interpret cluster logic)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Forest (final classification)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Goal: transparent, interpretable classification system for properties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97875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Converted square footage from string → numeric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Created new feature: price per square foot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Major missing data issue: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Reduced dataset from ~29,000 → 2,261 (with sqft)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Created two datasets: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Small dataset: includes square footage (2,261 rows)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Large dataset: price, bedrooms, bathrooms (~26,890 rows)</a:t>
            </a:r>
            <a:endParaRPr/>
          </a:p>
        </p:txBody>
      </p:sp>
      <p:sp>
        <p:nvSpPr>
          <p:cNvPr id="291" name="Google Shape;291;p15"/>
          <p:cNvSpPr txBox="1"/>
          <p:nvPr>
            <p:ph idx="2" type="body"/>
          </p:nvPr>
        </p:nvSpPr>
        <p:spPr>
          <a:xfrm>
            <a:off x="4903650" y="1597950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extreme outliers: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$22M property (vs $10M next highest)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68-bedroom property (vs 38 next highest)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Applied feature scaling (0–1 range) for clustering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Categorical prep for association rules: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Binned numeric features (low / med / high)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Cleaned and grouped localities (top 10 + “Other”)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Final dataset encoded for modeling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Clustering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13038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Groups data points based on similarity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Chosen k = 3, which results in 3 clusters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Two versions of the dataset were prepared, one smaller (2,261 instances) and one larger (26,890 instances)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25" y="2540786"/>
            <a:ext cx="3300475" cy="242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118" y="2527786"/>
            <a:ext cx="3391157" cy="24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Clustering Results</a:t>
            </a:r>
            <a:endParaRPr/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6022575" y="1133650"/>
            <a:ext cx="2886900" cy="3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u="sng"/>
              <a:t>Larger Dataset:</a:t>
            </a:r>
            <a:endParaRPr b="1" u="sng"/>
          </a:p>
        </p:txBody>
      </p:sp>
      <p:sp>
        <p:nvSpPr>
          <p:cNvPr id="306" name="Google Shape;306;p17"/>
          <p:cNvSpPr txBox="1"/>
          <p:nvPr/>
        </p:nvSpPr>
        <p:spPr>
          <a:xfrm>
            <a:off x="914075" y="1141275"/>
            <a:ext cx="4260300" cy="3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Smaller Dataset:</a:t>
            </a:r>
            <a:endParaRPr b="1" sz="1300" u="sng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7" name="Google Shape;307;p17"/>
          <p:cNvCxnSpPr/>
          <p:nvPr/>
        </p:nvCxnSpPr>
        <p:spPr>
          <a:xfrm rot="10800000">
            <a:off x="5798875" y="1210850"/>
            <a:ext cx="7800" cy="36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6" y="1603375"/>
            <a:ext cx="2850000" cy="2118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846" y="1580138"/>
            <a:ext cx="2850000" cy="21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3926" y="1581051"/>
            <a:ext cx="2850000" cy="2163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1025" y="3845313"/>
            <a:ext cx="2850000" cy="937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075" y="3825425"/>
            <a:ext cx="4260300" cy="976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Association Rules</a:t>
            </a:r>
            <a:endParaRPr/>
          </a:p>
        </p:txBody>
      </p:sp>
      <p:sp>
        <p:nvSpPr>
          <p:cNvPr id="318" name="Google Shape;318;p18"/>
          <p:cNvSpPr txBox="1"/>
          <p:nvPr>
            <p:ph idx="1" type="body"/>
          </p:nvPr>
        </p:nvSpPr>
        <p:spPr>
          <a:xfrm>
            <a:off x="1303800" y="1341775"/>
            <a:ext cx="7030500" cy="31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Helps find relationships between variables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Grouped localities together to avoid many options with sparse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Counted only the top 10 localities, and grouped the rest under “Other”</a:t>
            </a:r>
            <a:endParaRPr/>
          </a:p>
        </p:txBody>
      </p:sp>
      <p:pic>
        <p:nvPicPr>
          <p:cNvPr id="319" name="Google Shape;3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526" y="2447941"/>
            <a:ext cx="2873100" cy="1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8"/>
          <p:cNvSpPr/>
          <p:nvPr/>
        </p:nvSpPr>
        <p:spPr>
          <a:xfrm>
            <a:off x="4109700" y="3123125"/>
            <a:ext cx="924600" cy="47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 txBox="1"/>
          <p:nvPr/>
        </p:nvSpPr>
        <p:spPr>
          <a:xfrm>
            <a:off x="5714125" y="3123138"/>
            <a:ext cx="9639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</a:t>
            </a:r>
            <a:r>
              <a:rPr b="1" lang="en" sz="1800">
                <a:solidFill>
                  <a:schemeClr val="dk2"/>
                </a:solidFill>
              </a:rPr>
              <a:t>Ajax</a:t>
            </a:r>
            <a:r>
              <a:rPr lang="en" sz="1800">
                <a:solidFill>
                  <a:schemeClr val="dk2"/>
                </a:solidFill>
              </a:rPr>
              <a:t>”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Association Rules Results</a:t>
            </a:r>
            <a:endParaRPr/>
          </a:p>
        </p:txBody>
      </p:sp>
      <p:sp>
        <p:nvSpPr>
          <p:cNvPr id="327" name="Google Shape;327;p19"/>
          <p:cNvSpPr txBox="1"/>
          <p:nvPr>
            <p:ph idx="1" type="body"/>
          </p:nvPr>
        </p:nvSpPr>
        <p:spPr>
          <a:xfrm>
            <a:off x="311700" y="1597875"/>
            <a:ext cx="3721500" cy="29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Rules were sorted by confidence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From the rules, it was found that residential characteristics strongly disgtinguish single family homes</a:t>
            </a:r>
            <a:endParaRPr/>
          </a:p>
        </p:txBody>
      </p:sp>
      <p:pic>
        <p:nvPicPr>
          <p:cNvPr id="328" name="Google Shape;3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800" y="1700013"/>
            <a:ext cx="4983775" cy="26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Model Configuration</a:t>
            </a:r>
            <a:endParaRPr/>
          </a:p>
        </p:txBody>
      </p:sp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1303800" y="1597875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Removed rows with missing cluster labels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Selected </a:t>
            </a:r>
            <a:r>
              <a:rPr b="1" lang="en" sz="1100">
                <a:solidFill>
                  <a:srgbClr val="000000"/>
                </a:solidFill>
              </a:rPr>
              <a:t>physical property features only</a:t>
            </a:r>
            <a:r>
              <a:rPr lang="en" sz="1100">
                <a:solidFill>
                  <a:srgbClr val="000000"/>
                </a:solidFill>
              </a:rPr>
              <a:t> (excluded admin data)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Applied </a:t>
            </a:r>
            <a:r>
              <a:rPr b="1" lang="en" sz="1100">
                <a:solidFill>
                  <a:srgbClr val="000000"/>
                </a:solidFill>
              </a:rPr>
              <a:t>one-hot encoding</a:t>
            </a:r>
            <a:r>
              <a:rPr lang="en" sz="1100">
                <a:solidFill>
                  <a:srgbClr val="000000"/>
                </a:solidFill>
              </a:rPr>
              <a:t> (drop_first = True)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Ensured target clusters treated as categorical (integers)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Used </a:t>
            </a:r>
            <a:r>
              <a:rPr b="1" lang="en" sz="1100">
                <a:solidFill>
                  <a:srgbClr val="000000"/>
                </a:solidFill>
              </a:rPr>
              <a:t>stratified train-test split (85/15)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000000"/>
                </a:solidFill>
              </a:rPr>
              <a:t>Maintains proportional cluster representation</a:t>
            </a:r>
            <a:endParaRPr/>
          </a:p>
        </p:txBody>
      </p:sp>
      <p:sp>
        <p:nvSpPr>
          <p:cNvPr id="335" name="Google Shape;335;p20"/>
          <p:cNvSpPr txBox="1"/>
          <p:nvPr>
            <p:ph idx="2" type="body"/>
          </p:nvPr>
        </p:nvSpPr>
        <p:spPr>
          <a:xfrm>
            <a:off x="4903650" y="1597950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class_weight = balanced</a:t>
            </a: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rgbClr val="000000"/>
                </a:solidFill>
              </a:rPr>
              <a:t>→ handles class imbalance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min_samples_leaf = 5</a:t>
            </a:r>
            <a:r>
              <a:rPr lang="en">
                <a:solidFill>
                  <a:srgbClr val="000000"/>
                </a:solidFill>
              </a:rPr>
              <a:t> → decreases overfitting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n_estimators = 200</a:t>
            </a:r>
            <a:r>
              <a:rPr lang="en">
                <a:solidFill>
                  <a:srgbClr val="000000"/>
                </a:solidFill>
              </a:rPr>
              <a:t> → improves stability &amp; reduces variance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graphicFrame>
        <p:nvGraphicFramePr>
          <p:cNvPr id="341" name="Google Shape;341;p21"/>
          <p:cNvGraphicFramePr/>
          <p:nvPr/>
        </p:nvGraphicFramePr>
        <p:xfrm>
          <a:off x="538250" y="207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{E098CECF-57BE-4C9B-815A-7925FB4FA5A0}</a:tableStyleId>
              </a:tblPr>
              <a:tblGrid>
                <a:gridCol w="926125"/>
                <a:gridCol w="926125"/>
                <a:gridCol w="926125"/>
                <a:gridCol w="926125"/>
              </a:tblGrid>
              <a:tr h="5536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Random Forest Confusion Matrix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BDD7EE"/>
                    </a:solidFill>
                  </a:tcPr>
                </a:tc>
                <a:tc hMerge="1"/>
                <a:tc hMerge="1"/>
                <a:tc hMerge="1"/>
              </a:tr>
              <a:tr h="5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0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1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2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0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106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54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34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1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45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5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Cluster 2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75</a:t>
                      </a:r>
                      <a:endParaRPr sz="12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graphicFrame>
        <p:nvGraphicFramePr>
          <p:cNvPr id="342" name="Google Shape;342;p21"/>
          <p:cNvGraphicFramePr/>
          <p:nvPr/>
        </p:nvGraphicFramePr>
        <p:xfrm>
          <a:off x="4413450" y="207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{E098CECF-57BE-4C9B-815A-7925FB4FA5A0}</a:tableStyleId>
              </a:tblPr>
              <a:tblGrid>
                <a:gridCol w="1251275"/>
                <a:gridCol w="835675"/>
                <a:gridCol w="835675"/>
                <a:gridCol w="835675"/>
                <a:gridCol w="835675"/>
              </a:tblGrid>
              <a:tr h="3898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Random Forest Accuracy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BDD7EE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0.6666666666666666</a:t>
                      </a:r>
                      <a:endParaRPr sz="1200"/>
                    </a:p>
                  </a:txBody>
                  <a:tcPr marT="63500" marB="63500" marR="63500" marL="63500"/>
                </a:tc>
                <a:tc hMerge="1"/>
              </a:tr>
              <a:tr h="276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Random Forest Classification Report</a:t>
                      </a:r>
                      <a:endParaRPr b="1" sz="1200"/>
                    </a:p>
                  </a:txBody>
                  <a:tcPr marT="63500" marB="63500" marR="63500" marL="63500">
                    <a:solidFill>
                      <a:srgbClr val="BDD7EE"/>
                    </a:solidFill>
                  </a:tcPr>
                </a:tc>
                <a:tc hMerge="1"/>
                <a:tc hMerge="1"/>
                <a:tc hMerge="1"/>
                <a:tc hMerge="1"/>
              </a:tr>
              <a:tr h="38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precision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recall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f1-score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support</a:t>
                      </a:r>
                      <a:endParaRPr b="1" sz="1200"/>
                    </a:p>
                  </a:txBody>
                  <a:tcPr marT="63500" marB="63500" marR="63500" marL="63500"/>
                </a:tc>
              </a:tr>
              <a:tr h="276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0.91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0.55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0.68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194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6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0.44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0.55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62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64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0.63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0.74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83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accuracy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0.67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339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Macro avg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0.66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0.66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339</a:t>
                      </a:r>
                      <a:endParaRPr sz="1200"/>
                    </a:p>
                  </a:txBody>
                  <a:tcPr marT="63500" marB="63500" marR="63500" marL="63500"/>
                </a:tc>
              </a:tr>
              <a:tr h="27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Weighted avg</a:t>
                      </a:r>
                      <a:endParaRPr b="1"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0.75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0.67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0.67</a:t>
                      </a:r>
                      <a:endParaRPr sz="12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339</a:t>
                      </a:r>
                      <a:endParaRPr sz="12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</p:txBody>
      </p:sp>
      <p:pic>
        <p:nvPicPr>
          <p:cNvPr id="348" name="Google Shape;3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538" y="1447175"/>
            <a:ext cx="6160925" cy="33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"/>
          <p:cNvSpPr txBox="1"/>
          <p:nvPr>
            <p:ph type="title"/>
          </p:nvPr>
        </p:nvSpPr>
        <p:spPr>
          <a:xfrm>
            <a:off x="1256715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SHAP</a:t>
            </a:r>
            <a:endParaRPr/>
          </a:p>
        </p:txBody>
      </p:sp>
      <p:pic>
        <p:nvPicPr>
          <p:cNvPr id="354" name="Google Shape;3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25" y="1898763"/>
            <a:ext cx="382943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575" y="840213"/>
            <a:ext cx="3829430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7563" y="2943325"/>
            <a:ext cx="3829430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Results</a:t>
            </a:r>
            <a:endParaRPr/>
          </a:p>
        </p:txBody>
      </p:sp>
      <p:sp>
        <p:nvSpPr>
          <p:cNvPr id="362" name="Google Shape;362;p24"/>
          <p:cNvSpPr txBox="1"/>
          <p:nvPr>
            <p:ph idx="1" type="body"/>
          </p:nvPr>
        </p:nvSpPr>
        <p:spPr>
          <a:xfrm>
            <a:off x="1303800" y="1597875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 clustering revealed clear housing market segments: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Lower, middle, and upper-class groupings across both datasets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Square footage strongly correlated with price (small dataset)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Bedroom count showed weak correlation with price</a:t>
            </a:r>
            <a:endParaRPr/>
          </a:p>
        </p:txBody>
      </p:sp>
      <p:sp>
        <p:nvSpPr>
          <p:cNvPr id="363" name="Google Shape;363;p24"/>
          <p:cNvSpPr txBox="1"/>
          <p:nvPr>
            <p:ph idx="2" type="body"/>
          </p:nvPr>
        </p:nvSpPr>
        <p:spPr>
          <a:xfrm>
            <a:off x="4903650" y="1597950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Association rules highlighted strong feature relationships: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Municipal sewer systems strongly linked to single-family homes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Features like fireplaces, forced air heating, and more bathrooms reinforce typical residential property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 Forest model performance:</a:t>
            </a:r>
            <a:endParaRPr/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Strong performance on lower-class (Cluster 2) listings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Struggled with middle-class (Cluster 0) → often misclassified</a:t>
            </a:r>
            <a:endParaRPr/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Upper-class cluster (Cluster 1) used as a “catch-all” in uncertain cases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69" name="Google Shape;369;p25"/>
          <p:cNvSpPr txBox="1"/>
          <p:nvPr>
            <p:ph idx="1" type="body"/>
          </p:nvPr>
        </p:nvSpPr>
        <p:spPr>
          <a:xfrm>
            <a:off x="1303800" y="1597875"/>
            <a:ext cx="70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Property classification is driven more by structural and infrastructural features than simple metrics like price or bedroom 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important predictive features: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Exterior material (vinyl)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Attached garage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Single-family property type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watching!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